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11430000"/>
  <p:notesSz cx="11430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undo_horizont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1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502920" y="39319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completa por eixo temático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02920" y="4709160"/>
            <a:ext cx="2529840" cy="137160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846320"/>
            <a:ext cx="252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02920" y="5532120"/>
            <a:ext cx="252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307080" y="4709160"/>
            <a:ext cx="2529840" cy="137160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07080" y="4846320"/>
            <a:ext cx="252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3307080" y="5532120"/>
            <a:ext cx="252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TEMÁTICOS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11240" y="4709160"/>
            <a:ext cx="2529840" cy="137160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11240" y="4846320"/>
            <a:ext cx="252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111240" y="5532120"/>
            <a:ext cx="252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PROGRAMADOS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64922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EIXOS TEMÁTICOS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690372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FDEEE3"/>
          </a:solidFill>
          <a:ln/>
        </p:spPr>
      </p:sp>
      <p:sp>
        <p:nvSpPr>
          <p:cNvPr id="16" name="Shape 13"/>
          <p:cNvSpPr/>
          <p:nvPr/>
        </p:nvSpPr>
        <p:spPr>
          <a:xfrm>
            <a:off x="1252728" y="7086600"/>
            <a:ext cx="329184" cy="329184"/>
          </a:xfrm>
          <a:prstGeom prst="ellipse">
            <a:avLst/>
          </a:prstGeom>
          <a:solidFill>
            <a:srgbClr val="ED6A1F"/>
          </a:solidFill>
          <a:ln/>
        </p:spPr>
      </p:sp>
      <p:sp>
        <p:nvSpPr>
          <p:cNvPr id="17" name="Text 14"/>
          <p:cNvSpPr/>
          <p:nvPr/>
        </p:nvSpPr>
        <p:spPr>
          <a:xfrm>
            <a:off x="576072" y="7525512"/>
            <a:ext cx="16824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Pessoas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606040" y="690372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E7EAF3"/>
          </a:solidFill>
          <a:ln/>
        </p:spPr>
      </p:sp>
      <p:sp>
        <p:nvSpPr>
          <p:cNvPr id="19" name="Shape 16"/>
          <p:cNvSpPr/>
          <p:nvPr/>
        </p:nvSpPr>
        <p:spPr>
          <a:xfrm>
            <a:off x="3355848" y="7086600"/>
            <a:ext cx="329184" cy="329184"/>
          </a:xfrm>
          <a:prstGeom prst="ellipse">
            <a:avLst/>
          </a:prstGeom>
          <a:solidFill>
            <a:srgbClr val="0B1E4D"/>
          </a:solidFill>
          <a:ln/>
        </p:spPr>
      </p:sp>
      <p:sp>
        <p:nvSpPr>
          <p:cNvPr id="20" name="Text 17"/>
          <p:cNvSpPr/>
          <p:nvPr/>
        </p:nvSpPr>
        <p:spPr>
          <a:xfrm>
            <a:off x="2679192" y="7525512"/>
            <a:ext cx="16824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Institucional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09160" y="690372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E4F2FF"/>
          </a:solidFill>
          <a:ln/>
        </p:spPr>
      </p:sp>
      <p:sp>
        <p:nvSpPr>
          <p:cNvPr id="22" name="Shape 19"/>
          <p:cNvSpPr/>
          <p:nvPr/>
        </p:nvSpPr>
        <p:spPr>
          <a:xfrm>
            <a:off x="5458968" y="7086600"/>
            <a:ext cx="329184" cy="329184"/>
          </a:xfrm>
          <a:prstGeom prst="ellipse">
            <a:avLst/>
          </a:prstGeom>
          <a:solidFill>
            <a:srgbClr val="0D8BFF"/>
          </a:solidFill>
          <a:ln/>
        </p:spPr>
      </p:sp>
      <p:sp>
        <p:nvSpPr>
          <p:cNvPr id="23" name="Text 20"/>
          <p:cNvSpPr/>
          <p:nvPr/>
        </p:nvSpPr>
        <p:spPr>
          <a:xfrm>
            <a:off x="4782312" y="7525512"/>
            <a:ext cx="16824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da Informação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812280" y="690372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FBF1DC"/>
          </a:solidFill>
          <a:ln/>
        </p:spPr>
      </p:sp>
      <p:sp>
        <p:nvSpPr>
          <p:cNvPr id="25" name="Shape 22"/>
          <p:cNvSpPr/>
          <p:nvPr/>
        </p:nvSpPr>
        <p:spPr>
          <a:xfrm>
            <a:off x="7562088" y="7086600"/>
            <a:ext cx="329184" cy="329184"/>
          </a:xfrm>
          <a:prstGeom prst="ellipse">
            <a:avLst/>
          </a:prstGeom>
          <a:solidFill>
            <a:srgbClr val="C98A00"/>
          </a:solidFill>
          <a:ln/>
        </p:spPr>
      </p:sp>
      <p:sp>
        <p:nvSpPr>
          <p:cNvPr id="26" name="Text 23"/>
          <p:cNvSpPr/>
          <p:nvPr/>
        </p:nvSpPr>
        <p:spPr>
          <a:xfrm>
            <a:off x="6885432" y="7525512"/>
            <a:ext cx="16824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 Qualidade de Vida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02920" y="854964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gerais reúnem todos os participantes em um único auditório. Atividades paralelas ocorrem simultaneamente, uma por eixo temático, permitindo que cada servidor escolha sua trilha de interesse.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02920" y="95097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 21 de agosto de 2026  •  Campus Barreirinhas  •  Barreirinhas - MA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undo_horizont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1488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1 — QUARTA-FEIRA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02920" y="2551176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de agosto de 2026</a:t>
            </a:r>
            <a:pPr algn="l"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02920" y="30175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1E4D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3017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14h–16h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075688" y="3017520"/>
            <a:ext cx="6565392" cy="566928"/>
          </a:xfrm>
          <a:prstGeom prst="roundRect">
            <a:avLst>
              <a:gd name="adj" fmla="val 12903"/>
            </a:avLst>
          </a:prstGeom>
          <a:solidFill>
            <a:srgbClr val="E7EAF3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40280" y="3017520"/>
            <a:ext cx="6236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CREDENCIAMENTO E ACOLHIMENTO DAS EQUIPES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8404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1E4D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38404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16h–18h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075688" y="3840480"/>
            <a:ext cx="6565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paralela por eixo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4297680"/>
            <a:ext cx="3986784" cy="1691640"/>
          </a:xfrm>
          <a:prstGeom prst="roundRect">
            <a:avLst>
              <a:gd name="adj" fmla="val 3784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4297680"/>
            <a:ext cx="82296" cy="1691640"/>
          </a:xfrm>
          <a:prstGeom prst="roundRect">
            <a:avLst/>
          </a:prstGeom>
          <a:solidFill>
            <a:srgbClr val="ED6A1F"/>
          </a:solidFill>
          <a:ln/>
        </p:spPr>
      </p:sp>
      <p:sp>
        <p:nvSpPr>
          <p:cNvPr id="14" name="Shape 11"/>
          <p:cNvSpPr/>
          <p:nvPr/>
        </p:nvSpPr>
        <p:spPr>
          <a:xfrm>
            <a:off x="685800" y="4416552"/>
            <a:ext cx="3639312" cy="219456"/>
          </a:xfrm>
          <a:prstGeom prst="roundRect">
            <a:avLst>
              <a:gd name="adj" fmla="val 20833"/>
            </a:avLst>
          </a:prstGeom>
          <a:solidFill>
            <a:srgbClr val="FDEEE3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416552"/>
            <a:ext cx="36393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ED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PESSOAS</a:t>
            </a:r>
            <a:endParaRPr lang="en-US" sz="770" dirty="0"/>
          </a:p>
        </p:txBody>
      </p:sp>
      <p:sp>
        <p:nvSpPr>
          <p:cNvPr id="16" name="Text 13"/>
          <p:cNvSpPr/>
          <p:nvPr/>
        </p:nvSpPr>
        <p:spPr>
          <a:xfrm>
            <a:off x="685800" y="4700016"/>
            <a:ext cx="363931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Redonda DIGEPE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livre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Equipe Gestão de Pessoas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54296" y="4297680"/>
            <a:ext cx="3986784" cy="1691640"/>
          </a:xfrm>
          <a:prstGeom prst="roundRect">
            <a:avLst>
              <a:gd name="adj" fmla="val 3784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54296" y="4297680"/>
            <a:ext cx="82296" cy="1691640"/>
          </a:xfrm>
          <a:prstGeom prst="roundRect">
            <a:avLst/>
          </a:prstGeom>
          <a:solidFill>
            <a:srgbClr val="0B1E4D"/>
          </a:solidFill>
          <a:ln/>
        </p:spPr>
      </p:sp>
      <p:sp>
        <p:nvSpPr>
          <p:cNvPr id="19" name="Shape 16"/>
          <p:cNvSpPr/>
          <p:nvPr/>
        </p:nvSpPr>
        <p:spPr>
          <a:xfrm>
            <a:off x="4837176" y="4416552"/>
            <a:ext cx="3639312" cy="219456"/>
          </a:xfrm>
          <a:prstGeom prst="roundRect">
            <a:avLst>
              <a:gd name="adj" fmla="val 20833"/>
            </a:avLst>
          </a:prstGeom>
          <a:solidFill>
            <a:srgbClr val="E7EAF3"/>
          </a:solidFill>
          <a:ln/>
        </p:spPr>
      </p:sp>
      <p:sp>
        <p:nvSpPr>
          <p:cNvPr id="20" name="Text 17"/>
          <p:cNvSpPr/>
          <p:nvPr/>
        </p:nvSpPr>
        <p:spPr>
          <a:xfrm>
            <a:off x="4837176" y="4416552"/>
            <a:ext cx="36393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INSTITUCIONAL</a:t>
            </a:r>
            <a:endParaRPr lang="en-US" sz="770" dirty="0"/>
          </a:p>
        </p:txBody>
      </p:sp>
      <p:sp>
        <p:nvSpPr>
          <p:cNvPr id="21" name="Text 18"/>
          <p:cNvSpPr/>
          <p:nvPr/>
        </p:nvSpPr>
        <p:spPr>
          <a:xfrm>
            <a:off x="4837176" y="4700016"/>
            <a:ext cx="363931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Institucional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2920" y="6153912"/>
            <a:ext cx="3986784" cy="1691640"/>
          </a:xfrm>
          <a:prstGeom prst="roundRect">
            <a:avLst>
              <a:gd name="adj" fmla="val 3784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2920" y="6153912"/>
            <a:ext cx="82296" cy="1691640"/>
          </a:xfrm>
          <a:prstGeom prst="roundRect">
            <a:avLst/>
          </a:prstGeom>
          <a:solidFill>
            <a:srgbClr val="0D8BFF"/>
          </a:solidFill>
          <a:ln/>
        </p:spPr>
      </p:sp>
      <p:sp>
        <p:nvSpPr>
          <p:cNvPr id="24" name="Shape 21"/>
          <p:cNvSpPr/>
          <p:nvPr/>
        </p:nvSpPr>
        <p:spPr>
          <a:xfrm>
            <a:off x="685800" y="6272784"/>
            <a:ext cx="3639312" cy="219456"/>
          </a:xfrm>
          <a:prstGeom prst="roundRect">
            <a:avLst>
              <a:gd name="adj" fmla="val 20833"/>
            </a:avLst>
          </a:prstGeom>
          <a:solidFill>
            <a:srgbClr val="E4F2FF"/>
          </a:solidFill>
          <a:ln/>
        </p:spPr>
      </p:sp>
      <p:sp>
        <p:nvSpPr>
          <p:cNvPr id="25" name="Text 22"/>
          <p:cNvSpPr/>
          <p:nvPr/>
        </p:nvSpPr>
        <p:spPr>
          <a:xfrm>
            <a:off x="685800" y="6272784"/>
            <a:ext cx="36393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0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DA INFORMAÇÃO</a:t>
            </a:r>
            <a:endParaRPr lang="en-US" sz="770" dirty="0"/>
          </a:p>
        </p:txBody>
      </p:sp>
      <p:sp>
        <p:nvSpPr>
          <p:cNvPr id="26" name="Text 23"/>
          <p:cNvSpPr/>
          <p:nvPr/>
        </p:nvSpPr>
        <p:spPr>
          <a:xfrm>
            <a:off x="685800" y="6556248"/>
            <a:ext cx="363931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ETIR no Instituto Federal: governança, formalização e resposta a incidentes cibernéticos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Francisco de Assis Fialho Henriques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Equipe de TI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654296" y="6153912"/>
            <a:ext cx="3986784" cy="1691640"/>
          </a:xfrm>
          <a:prstGeom prst="roundRect">
            <a:avLst>
              <a:gd name="adj" fmla="val 3784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54296" y="6153912"/>
            <a:ext cx="82296" cy="1691640"/>
          </a:xfrm>
          <a:prstGeom prst="roundRect">
            <a:avLst/>
          </a:prstGeom>
          <a:solidFill>
            <a:srgbClr val="C98A00"/>
          </a:solidFill>
          <a:ln/>
        </p:spPr>
      </p:sp>
      <p:sp>
        <p:nvSpPr>
          <p:cNvPr id="29" name="Shape 26"/>
          <p:cNvSpPr/>
          <p:nvPr/>
        </p:nvSpPr>
        <p:spPr>
          <a:xfrm>
            <a:off x="4837176" y="6272784"/>
            <a:ext cx="3639312" cy="219456"/>
          </a:xfrm>
          <a:prstGeom prst="roundRect">
            <a:avLst>
              <a:gd name="adj" fmla="val 20833"/>
            </a:avLst>
          </a:prstGeom>
          <a:solidFill>
            <a:srgbClr val="FBF1DC"/>
          </a:solidFill>
          <a:ln/>
        </p:spPr>
      </p:sp>
      <p:sp>
        <p:nvSpPr>
          <p:cNvPr id="30" name="Text 27"/>
          <p:cNvSpPr/>
          <p:nvPr/>
        </p:nvSpPr>
        <p:spPr>
          <a:xfrm>
            <a:off x="4837176" y="6272784"/>
            <a:ext cx="36393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 QUALIDADE DE VIDA</a:t>
            </a:r>
            <a:endParaRPr lang="en-US" sz="770" dirty="0"/>
          </a:p>
        </p:txBody>
      </p:sp>
      <p:sp>
        <p:nvSpPr>
          <p:cNvPr id="31" name="Text 28"/>
          <p:cNvSpPr/>
          <p:nvPr/>
        </p:nvSpPr>
        <p:spPr>
          <a:xfrm>
            <a:off x="4837176" y="6556248"/>
            <a:ext cx="363931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e discussão temática — Perícia médica: procedimentos institucionais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Enf. Dâmaris Rebeca Soares da Silva Carvalho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Saúde e qualidade de vida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2920" y="8101584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1E4D"/>
          </a:solidFill>
          <a:ln/>
        </p:spPr>
      </p:sp>
      <p:sp>
        <p:nvSpPr>
          <p:cNvPr id="33" name="Text 30"/>
          <p:cNvSpPr/>
          <p:nvPr/>
        </p:nvSpPr>
        <p:spPr>
          <a:xfrm>
            <a:off x="502920" y="810158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18h–19h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2075688" y="8101584"/>
            <a:ext cx="6565392" cy="1005840"/>
          </a:xfrm>
          <a:prstGeom prst="roundRect">
            <a:avLst>
              <a:gd name="adj" fmla="val 7273"/>
            </a:avLst>
          </a:prstGeom>
          <a:solidFill>
            <a:srgbClr val="E4F2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240280" y="8101584"/>
            <a:ext cx="6236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OFICIAL</a:t>
            </a:r>
            <a:endParaRPr lang="en-US" sz="125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destinada a todos os participantes — Palestra: “O Horizonte Já Chegou: IA e o Futuro do Serviço Público”</a:t>
            </a:r>
            <a:endParaRPr lang="en-US" sz="12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Palestrante: Professor do IFMA, Campus Itapecuru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undo_horizont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1488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2 — QUINTA-FEIRA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02920" y="2551176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 agosto de 2026</a:t>
            </a:r>
            <a:pPr algn="l"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MANHÃ  •  1/2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02920" y="30175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1E4D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3017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08h–10h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075688" y="3017520"/>
            <a:ext cx="6565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paralela por eixo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3474720"/>
            <a:ext cx="2615184" cy="3291840"/>
          </a:xfrm>
          <a:prstGeom prst="roundRect">
            <a:avLst>
              <a:gd name="adj" fmla="val 2448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3474720"/>
            <a:ext cx="82296" cy="3291840"/>
          </a:xfrm>
          <a:prstGeom prst="roundRect">
            <a:avLst/>
          </a:prstGeom>
          <a:solidFill>
            <a:srgbClr val="ED6A1F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3593592"/>
            <a:ext cx="2267712" cy="219456"/>
          </a:xfrm>
          <a:prstGeom prst="roundRect">
            <a:avLst>
              <a:gd name="adj" fmla="val 20833"/>
            </a:avLst>
          </a:prstGeom>
          <a:solidFill>
            <a:srgbClr val="FDEEE3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593592"/>
            <a:ext cx="22677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ED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PESSOAS</a:t>
            </a:r>
            <a:endParaRPr lang="en-US" sz="770" dirty="0"/>
          </a:p>
        </p:txBody>
      </p:sp>
      <p:sp>
        <p:nvSpPr>
          <p:cNvPr id="12" name="Text 9"/>
          <p:cNvSpPr/>
          <p:nvPr/>
        </p:nvSpPr>
        <p:spPr>
          <a:xfrm>
            <a:off x="685800" y="3877056"/>
            <a:ext cx="226771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Processos e Pessoas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Cristiane Lacerda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Equipe de Gestão de Pessoas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64408" y="3474720"/>
            <a:ext cx="2615184" cy="3291840"/>
          </a:xfrm>
          <a:prstGeom prst="roundRect">
            <a:avLst>
              <a:gd name="adj" fmla="val 2448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64408" y="3474720"/>
            <a:ext cx="82296" cy="3291840"/>
          </a:xfrm>
          <a:prstGeom prst="roundRect">
            <a:avLst/>
          </a:prstGeom>
          <a:solidFill>
            <a:srgbClr val="0B1E4D"/>
          </a:solidFill>
          <a:ln/>
        </p:spPr>
      </p:sp>
      <p:sp>
        <p:nvSpPr>
          <p:cNvPr id="15" name="Shape 12"/>
          <p:cNvSpPr/>
          <p:nvPr/>
        </p:nvSpPr>
        <p:spPr>
          <a:xfrm>
            <a:off x="3447288" y="3593592"/>
            <a:ext cx="2267712" cy="219456"/>
          </a:xfrm>
          <a:prstGeom prst="roundRect">
            <a:avLst>
              <a:gd name="adj" fmla="val 20833"/>
            </a:avLst>
          </a:prstGeom>
          <a:solidFill>
            <a:srgbClr val="E7EAF3"/>
          </a:solidFill>
          <a:ln/>
        </p:spPr>
      </p:sp>
      <p:sp>
        <p:nvSpPr>
          <p:cNvPr id="16" name="Text 13"/>
          <p:cNvSpPr/>
          <p:nvPr/>
        </p:nvSpPr>
        <p:spPr>
          <a:xfrm>
            <a:off x="3447288" y="3593592"/>
            <a:ext cx="22677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INSTITUCIONAL</a:t>
            </a:r>
            <a:endParaRPr lang="en-US" sz="770" dirty="0"/>
          </a:p>
        </p:txBody>
      </p:sp>
      <p:sp>
        <p:nvSpPr>
          <p:cNvPr id="17" name="Text 14"/>
          <p:cNvSpPr/>
          <p:nvPr/>
        </p:nvSpPr>
        <p:spPr>
          <a:xfrm>
            <a:off x="3447288" y="3877056"/>
            <a:ext cx="226771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do Programa Conecta Rede e soluções disponíveis para o IFMA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Eixos: Desenvolvimento Institucional + Tecnologia da Informação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Roosevelt Oliveira (Gerente de Soluções da RNP)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Equipe de TI, Diretores e Pró-Reitores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25896" y="3474720"/>
            <a:ext cx="2615184" cy="3291840"/>
          </a:xfrm>
          <a:prstGeom prst="roundRect">
            <a:avLst>
              <a:gd name="adj" fmla="val 2448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25896" y="3474720"/>
            <a:ext cx="82296" cy="3291840"/>
          </a:xfrm>
          <a:prstGeom prst="roundRect">
            <a:avLst/>
          </a:prstGeom>
          <a:solidFill>
            <a:srgbClr val="C98A00"/>
          </a:solidFill>
          <a:ln/>
        </p:spPr>
      </p:sp>
      <p:sp>
        <p:nvSpPr>
          <p:cNvPr id="20" name="Shape 17"/>
          <p:cNvSpPr/>
          <p:nvPr/>
        </p:nvSpPr>
        <p:spPr>
          <a:xfrm>
            <a:off x="6208776" y="3593592"/>
            <a:ext cx="2267712" cy="219456"/>
          </a:xfrm>
          <a:prstGeom prst="roundRect">
            <a:avLst>
              <a:gd name="adj" fmla="val 20833"/>
            </a:avLst>
          </a:prstGeom>
          <a:solidFill>
            <a:srgbClr val="FBF1DC"/>
          </a:solidFill>
          <a:ln/>
        </p:spPr>
      </p:sp>
      <p:sp>
        <p:nvSpPr>
          <p:cNvPr id="21" name="Text 18"/>
          <p:cNvSpPr/>
          <p:nvPr/>
        </p:nvSpPr>
        <p:spPr>
          <a:xfrm>
            <a:off x="6208776" y="3593592"/>
            <a:ext cx="22677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 QUALIDADE DE VIDA</a:t>
            </a:r>
            <a:endParaRPr lang="en-US" sz="770" dirty="0"/>
          </a:p>
        </p:txBody>
      </p:sp>
      <p:sp>
        <p:nvSpPr>
          <p:cNvPr id="22" name="Text 19"/>
          <p:cNvSpPr/>
          <p:nvPr/>
        </p:nvSpPr>
        <p:spPr>
          <a:xfrm>
            <a:off x="6208776" y="3877056"/>
            <a:ext cx="226771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de Saúde, Segurança e Qualidade de Vida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Prof. Seg. do Trabalho Fernando Antonio Tocantins Nunes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Saúde e qualidade de vida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2920" y="70866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1E4D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70866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10h–10h30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075688" y="7086600"/>
            <a:ext cx="6565392" cy="566928"/>
          </a:xfrm>
          <a:prstGeom prst="roundRect">
            <a:avLst>
              <a:gd name="adj" fmla="val 12903"/>
            </a:avLst>
          </a:prstGeom>
          <a:solidFill>
            <a:srgbClr val="EFF3F8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240280" y="7086600"/>
            <a:ext cx="6236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BREAK</a:t>
            </a:r>
            <a:endParaRPr lang="en-US" sz="125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comum a todos os participantes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undo_horizont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1488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2 — QUINTA-FEIRA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02920" y="2551176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 agosto de 2026</a:t>
            </a:r>
            <a:pPr algn="l"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MANHÃ  •  2/2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02920" y="30175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1E4D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3017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10h30–12h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075688" y="3017520"/>
            <a:ext cx="6565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paralela por eixo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3474720"/>
            <a:ext cx="3986784" cy="2331720"/>
          </a:xfrm>
          <a:prstGeom prst="roundRect">
            <a:avLst>
              <a:gd name="adj" fmla="val 2745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3474720"/>
            <a:ext cx="82296" cy="2331720"/>
          </a:xfrm>
          <a:prstGeom prst="roundRect">
            <a:avLst/>
          </a:prstGeom>
          <a:solidFill>
            <a:srgbClr val="ED6A1F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3593592"/>
            <a:ext cx="3639312" cy="219456"/>
          </a:xfrm>
          <a:prstGeom prst="roundRect">
            <a:avLst>
              <a:gd name="adj" fmla="val 20833"/>
            </a:avLst>
          </a:prstGeom>
          <a:solidFill>
            <a:srgbClr val="FDEEE3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593592"/>
            <a:ext cx="36393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ED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PESSOAS</a:t>
            </a:r>
            <a:endParaRPr lang="en-US" sz="770" dirty="0"/>
          </a:p>
        </p:txBody>
      </p:sp>
      <p:sp>
        <p:nvSpPr>
          <p:cNvPr id="12" name="Text 9"/>
          <p:cNvSpPr/>
          <p:nvPr/>
        </p:nvSpPr>
        <p:spPr>
          <a:xfrm>
            <a:off x="685800" y="3877056"/>
            <a:ext cx="363931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DIGEPE, DCQ e TI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 e Aceleração por Capacitação, Cartilha de recepção de novos servidores, Situação Funcional e Gerador de Atos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Valdomir Carvalho, Regina Azevêdo, Juliana de Paula e William Mendes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Equipe de Gestão de Pessoas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54296" y="3474720"/>
            <a:ext cx="3986784" cy="2331720"/>
          </a:xfrm>
          <a:prstGeom prst="roundRect">
            <a:avLst>
              <a:gd name="adj" fmla="val 2745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54296" y="3474720"/>
            <a:ext cx="82296" cy="2331720"/>
          </a:xfrm>
          <a:prstGeom prst="roundRect">
            <a:avLst/>
          </a:prstGeom>
          <a:solidFill>
            <a:srgbClr val="0B1E4D"/>
          </a:solidFill>
          <a:ln/>
        </p:spPr>
      </p:sp>
      <p:sp>
        <p:nvSpPr>
          <p:cNvPr id="15" name="Shape 12"/>
          <p:cNvSpPr/>
          <p:nvPr/>
        </p:nvSpPr>
        <p:spPr>
          <a:xfrm>
            <a:off x="4837176" y="3593592"/>
            <a:ext cx="3639312" cy="219456"/>
          </a:xfrm>
          <a:prstGeom prst="roundRect">
            <a:avLst>
              <a:gd name="adj" fmla="val 20833"/>
            </a:avLst>
          </a:prstGeom>
          <a:solidFill>
            <a:srgbClr val="E7EAF3"/>
          </a:solidFill>
          <a:ln/>
        </p:spPr>
      </p:sp>
      <p:sp>
        <p:nvSpPr>
          <p:cNvPr id="16" name="Text 13"/>
          <p:cNvSpPr/>
          <p:nvPr/>
        </p:nvSpPr>
        <p:spPr>
          <a:xfrm>
            <a:off x="4837176" y="3593592"/>
            <a:ext cx="36393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INSTITUCIONAL</a:t>
            </a:r>
            <a:endParaRPr lang="en-US" sz="770" dirty="0"/>
          </a:p>
        </p:txBody>
      </p:sp>
      <p:sp>
        <p:nvSpPr>
          <p:cNvPr id="17" name="Text 14"/>
          <p:cNvSpPr/>
          <p:nvPr/>
        </p:nvSpPr>
        <p:spPr>
          <a:xfrm>
            <a:off x="4837176" y="3877056"/>
            <a:ext cx="363931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para Gestores: fundamentos, aplicações e produtividade no trabalho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Assis Henriques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Dirigentes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5971032"/>
            <a:ext cx="3986784" cy="2331720"/>
          </a:xfrm>
          <a:prstGeom prst="roundRect">
            <a:avLst>
              <a:gd name="adj" fmla="val 2745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5971032"/>
            <a:ext cx="82296" cy="2331720"/>
          </a:xfrm>
          <a:prstGeom prst="roundRect">
            <a:avLst/>
          </a:prstGeom>
          <a:solidFill>
            <a:srgbClr val="0D8BFF"/>
          </a:solidFill>
          <a:ln/>
        </p:spPr>
      </p:sp>
      <p:sp>
        <p:nvSpPr>
          <p:cNvPr id="20" name="Shape 17"/>
          <p:cNvSpPr/>
          <p:nvPr/>
        </p:nvSpPr>
        <p:spPr>
          <a:xfrm>
            <a:off x="685800" y="6089904"/>
            <a:ext cx="3639312" cy="219456"/>
          </a:xfrm>
          <a:prstGeom prst="roundRect">
            <a:avLst>
              <a:gd name="adj" fmla="val 20833"/>
            </a:avLst>
          </a:prstGeom>
          <a:solidFill>
            <a:srgbClr val="E4F2FF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6089904"/>
            <a:ext cx="36393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0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DA INFORMAÇÃO</a:t>
            </a:r>
            <a:endParaRPr lang="en-US" sz="770" dirty="0"/>
          </a:p>
        </p:txBody>
      </p:sp>
      <p:sp>
        <p:nvSpPr>
          <p:cNvPr id="22" name="Text 19"/>
          <p:cNvSpPr/>
          <p:nvPr/>
        </p:nvSpPr>
        <p:spPr>
          <a:xfrm>
            <a:off x="685800" y="6373368"/>
            <a:ext cx="363931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de Dados na Prática: Como a Inteligência de Dados Transforma a Gestão da Conectividade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João Souza (Coordenador da Gerência de Atendimento Integrado)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Equipe de TI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54296" y="5971032"/>
            <a:ext cx="3986784" cy="2331720"/>
          </a:xfrm>
          <a:prstGeom prst="roundRect">
            <a:avLst>
              <a:gd name="adj" fmla="val 2745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54296" y="5971032"/>
            <a:ext cx="82296" cy="2331720"/>
          </a:xfrm>
          <a:prstGeom prst="roundRect">
            <a:avLst/>
          </a:prstGeom>
          <a:solidFill>
            <a:srgbClr val="C98A00"/>
          </a:solidFill>
          <a:ln/>
        </p:spPr>
      </p:sp>
      <p:sp>
        <p:nvSpPr>
          <p:cNvPr id="25" name="Shape 22"/>
          <p:cNvSpPr/>
          <p:nvPr/>
        </p:nvSpPr>
        <p:spPr>
          <a:xfrm>
            <a:off x="4837176" y="6089904"/>
            <a:ext cx="3639312" cy="219456"/>
          </a:xfrm>
          <a:prstGeom prst="roundRect">
            <a:avLst>
              <a:gd name="adj" fmla="val 20833"/>
            </a:avLst>
          </a:prstGeom>
          <a:solidFill>
            <a:srgbClr val="FBF1DC"/>
          </a:solidFill>
          <a:ln/>
        </p:spPr>
      </p:sp>
      <p:sp>
        <p:nvSpPr>
          <p:cNvPr id="26" name="Text 23"/>
          <p:cNvSpPr/>
          <p:nvPr/>
        </p:nvSpPr>
        <p:spPr>
          <a:xfrm>
            <a:off x="4837176" y="6089904"/>
            <a:ext cx="36393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 QUALIDADE DE VIDA</a:t>
            </a:r>
            <a:endParaRPr lang="en-US" sz="770" dirty="0"/>
          </a:p>
        </p:txBody>
      </p:sp>
      <p:sp>
        <p:nvSpPr>
          <p:cNvPr id="27" name="Text 24"/>
          <p:cNvSpPr/>
          <p:nvPr/>
        </p:nvSpPr>
        <p:spPr>
          <a:xfrm>
            <a:off x="4837176" y="6373368"/>
            <a:ext cx="363931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de quem cuida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Cristiane Lacerda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Equipe de Qualidade de Vida e Saúde do servidor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2920" y="8558784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1E4D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855878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12h–14h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075688" y="8558784"/>
            <a:ext cx="6565392" cy="566928"/>
          </a:xfrm>
          <a:prstGeom prst="roundRect">
            <a:avLst>
              <a:gd name="adj" fmla="val 12903"/>
            </a:avLst>
          </a:prstGeom>
          <a:solidFill>
            <a:srgbClr val="EFF3F8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240280" y="8558784"/>
            <a:ext cx="6236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PARA ALMOÇO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undo_horizont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1488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2 — QUINTA-FEIRA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02920" y="2551176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 agosto de 2026</a:t>
            </a:r>
            <a:pPr algn="l"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02920" y="30175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1E4D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3017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14h–16h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075688" y="3017520"/>
            <a:ext cx="6565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paralela por eixo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3474720"/>
            <a:ext cx="3995928" cy="1691640"/>
          </a:xfrm>
          <a:prstGeom prst="roundRect">
            <a:avLst>
              <a:gd name="adj" fmla="val 3784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3474720"/>
            <a:ext cx="82296" cy="1691640"/>
          </a:xfrm>
          <a:prstGeom prst="roundRect">
            <a:avLst/>
          </a:prstGeom>
          <a:solidFill>
            <a:srgbClr val="ED6A1F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3593592"/>
            <a:ext cx="3648456" cy="219456"/>
          </a:xfrm>
          <a:prstGeom prst="roundRect">
            <a:avLst>
              <a:gd name="adj" fmla="val 20833"/>
            </a:avLst>
          </a:prstGeom>
          <a:solidFill>
            <a:srgbClr val="FDEEE3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593592"/>
            <a:ext cx="36484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ED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PESSOAS</a:t>
            </a:r>
            <a:endParaRPr lang="en-US" sz="770" dirty="0"/>
          </a:p>
        </p:txBody>
      </p:sp>
      <p:sp>
        <p:nvSpPr>
          <p:cNvPr id="12" name="Text 9"/>
          <p:cNvSpPr/>
          <p:nvPr/>
        </p:nvSpPr>
        <p:spPr>
          <a:xfrm>
            <a:off x="685800" y="3877056"/>
            <a:ext cx="364845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Aposentadoria e Pensão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Luzinete Rubim e Rondnelle Lima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Equipe Gestão de Pessoas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45152" y="3474720"/>
            <a:ext cx="3995928" cy="1691640"/>
          </a:xfrm>
          <a:prstGeom prst="roundRect">
            <a:avLst>
              <a:gd name="adj" fmla="val 3784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45152" y="3474720"/>
            <a:ext cx="82296" cy="1691640"/>
          </a:xfrm>
          <a:prstGeom prst="roundRect">
            <a:avLst/>
          </a:prstGeom>
          <a:solidFill>
            <a:srgbClr val="0B1E4D"/>
          </a:solidFill>
          <a:ln/>
        </p:spPr>
      </p:sp>
      <p:sp>
        <p:nvSpPr>
          <p:cNvPr id="15" name="Shape 12"/>
          <p:cNvSpPr/>
          <p:nvPr/>
        </p:nvSpPr>
        <p:spPr>
          <a:xfrm>
            <a:off x="4828032" y="3593592"/>
            <a:ext cx="3648456" cy="219456"/>
          </a:xfrm>
          <a:prstGeom prst="roundRect">
            <a:avLst>
              <a:gd name="adj" fmla="val 20833"/>
            </a:avLst>
          </a:prstGeom>
          <a:solidFill>
            <a:srgbClr val="E7EAF3"/>
          </a:solidFill>
          <a:ln/>
        </p:spPr>
      </p:sp>
      <p:sp>
        <p:nvSpPr>
          <p:cNvPr id="16" name="Text 13"/>
          <p:cNvSpPr/>
          <p:nvPr/>
        </p:nvSpPr>
        <p:spPr>
          <a:xfrm>
            <a:off x="4828032" y="3593592"/>
            <a:ext cx="36484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INSTITUCIONAL</a:t>
            </a:r>
            <a:endParaRPr lang="en-US" sz="770" dirty="0"/>
          </a:p>
        </p:txBody>
      </p:sp>
      <p:sp>
        <p:nvSpPr>
          <p:cNvPr id="17" name="Text 14"/>
          <p:cNvSpPr/>
          <p:nvPr/>
        </p:nvSpPr>
        <p:spPr>
          <a:xfrm>
            <a:off x="4828032" y="3877056"/>
            <a:ext cx="364845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PAA: Plano de Ação Anual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Clarisse Medeiros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Dirigentes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5312664"/>
            <a:ext cx="3995928" cy="1691640"/>
          </a:xfrm>
          <a:prstGeom prst="roundRect">
            <a:avLst>
              <a:gd name="adj" fmla="val 3784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5312664"/>
            <a:ext cx="82296" cy="1691640"/>
          </a:xfrm>
          <a:prstGeom prst="roundRect">
            <a:avLst/>
          </a:prstGeom>
          <a:solidFill>
            <a:srgbClr val="0D8BFF"/>
          </a:solidFill>
          <a:ln/>
        </p:spPr>
      </p:sp>
      <p:sp>
        <p:nvSpPr>
          <p:cNvPr id="20" name="Shape 17"/>
          <p:cNvSpPr/>
          <p:nvPr/>
        </p:nvSpPr>
        <p:spPr>
          <a:xfrm>
            <a:off x="685800" y="5431536"/>
            <a:ext cx="3648456" cy="219456"/>
          </a:xfrm>
          <a:prstGeom prst="roundRect">
            <a:avLst>
              <a:gd name="adj" fmla="val 20833"/>
            </a:avLst>
          </a:prstGeom>
          <a:solidFill>
            <a:srgbClr val="E4F2FF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5431536"/>
            <a:ext cx="36484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0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DA INFORMAÇÃO</a:t>
            </a:r>
            <a:endParaRPr lang="en-US" sz="770" dirty="0"/>
          </a:p>
        </p:txBody>
      </p:sp>
      <p:sp>
        <p:nvSpPr>
          <p:cNvPr id="22" name="Text 19"/>
          <p:cNvSpPr/>
          <p:nvPr/>
        </p:nvSpPr>
        <p:spPr>
          <a:xfrm>
            <a:off x="685800" y="5715000"/>
            <a:ext cx="364845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Resilience na Era da IA: Da Prevenção à Sala de Crise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IA transforma tanto os ataques quanto a defesa, e como preparar sua organização para o próximo ransomware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Henrique Oliveira (Sr. Systems Engineer da Fortinet)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Equipe de TI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45152" y="5312664"/>
            <a:ext cx="3995928" cy="1691640"/>
          </a:xfrm>
          <a:prstGeom prst="roundRect">
            <a:avLst>
              <a:gd name="adj" fmla="val 3784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45152" y="5312664"/>
            <a:ext cx="82296" cy="1691640"/>
          </a:xfrm>
          <a:prstGeom prst="roundRect">
            <a:avLst/>
          </a:prstGeom>
          <a:solidFill>
            <a:srgbClr val="C98A00"/>
          </a:solidFill>
          <a:ln/>
        </p:spPr>
      </p:sp>
      <p:sp>
        <p:nvSpPr>
          <p:cNvPr id="25" name="Shape 22"/>
          <p:cNvSpPr/>
          <p:nvPr/>
        </p:nvSpPr>
        <p:spPr>
          <a:xfrm>
            <a:off x="4828032" y="5431536"/>
            <a:ext cx="3648456" cy="219456"/>
          </a:xfrm>
          <a:prstGeom prst="roundRect">
            <a:avLst>
              <a:gd name="adj" fmla="val 20833"/>
            </a:avLst>
          </a:prstGeom>
          <a:solidFill>
            <a:srgbClr val="FBF1DC"/>
          </a:solidFill>
          <a:ln/>
        </p:spPr>
      </p:sp>
      <p:sp>
        <p:nvSpPr>
          <p:cNvPr id="26" name="Text 23"/>
          <p:cNvSpPr/>
          <p:nvPr/>
        </p:nvSpPr>
        <p:spPr>
          <a:xfrm>
            <a:off x="4828032" y="5431536"/>
            <a:ext cx="364845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 QUALIDADE DE VIDA</a:t>
            </a:r>
            <a:endParaRPr lang="en-US" sz="770" dirty="0"/>
          </a:p>
        </p:txBody>
      </p:sp>
      <p:sp>
        <p:nvSpPr>
          <p:cNvPr id="27" name="Text 24"/>
          <p:cNvSpPr/>
          <p:nvPr/>
        </p:nvSpPr>
        <p:spPr>
          <a:xfrm>
            <a:off x="4828032" y="5715000"/>
            <a:ext cx="364845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Política de Saúde e Segurança no Trabalho no Serviço Público Federal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Desafios, avanços e perspectivas para a valorização do servidor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Psic. Nathália Senger Medeiros e Assist. Soc. Aline Paes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Saúde e qualidade de vida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02920" y="72237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1E4D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72237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16h–16h30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075688" y="7223760"/>
            <a:ext cx="6565392" cy="566928"/>
          </a:xfrm>
          <a:prstGeom prst="roundRect">
            <a:avLst>
              <a:gd name="adj" fmla="val 12903"/>
            </a:avLst>
          </a:prstGeom>
          <a:solidFill>
            <a:srgbClr val="EFF3F8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240280" y="7223760"/>
            <a:ext cx="6236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BREAK</a:t>
            </a:r>
            <a:endParaRPr lang="en-US" sz="125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comum a todos os participantes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502920" y="8010144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1E4D"/>
          </a:solidFill>
          <a:ln/>
        </p:spPr>
      </p:sp>
      <p:sp>
        <p:nvSpPr>
          <p:cNvPr id="33" name="Text 30"/>
          <p:cNvSpPr/>
          <p:nvPr/>
        </p:nvSpPr>
        <p:spPr>
          <a:xfrm>
            <a:off x="502920" y="801014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16h30–18h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2075688" y="8010144"/>
            <a:ext cx="6565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paralela por eixo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02920" y="8467344"/>
            <a:ext cx="2615184" cy="16002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02920" y="8467344"/>
            <a:ext cx="82296" cy="1600200"/>
          </a:xfrm>
          <a:prstGeom prst="roundRect">
            <a:avLst/>
          </a:prstGeom>
          <a:solidFill>
            <a:srgbClr val="ED6A1F"/>
          </a:solidFill>
          <a:ln/>
        </p:spPr>
      </p:sp>
      <p:sp>
        <p:nvSpPr>
          <p:cNvPr id="37" name="Shape 34"/>
          <p:cNvSpPr/>
          <p:nvPr/>
        </p:nvSpPr>
        <p:spPr>
          <a:xfrm>
            <a:off x="685800" y="8586216"/>
            <a:ext cx="2267712" cy="219456"/>
          </a:xfrm>
          <a:prstGeom prst="roundRect">
            <a:avLst>
              <a:gd name="adj" fmla="val 20833"/>
            </a:avLst>
          </a:prstGeom>
          <a:solidFill>
            <a:srgbClr val="FDEEE3"/>
          </a:solidFill>
          <a:ln/>
        </p:spPr>
      </p:sp>
      <p:sp>
        <p:nvSpPr>
          <p:cNvPr id="38" name="Text 35"/>
          <p:cNvSpPr/>
          <p:nvPr/>
        </p:nvSpPr>
        <p:spPr>
          <a:xfrm>
            <a:off x="685800" y="8586216"/>
            <a:ext cx="22677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ED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PESSOAS</a:t>
            </a:r>
            <a:endParaRPr lang="en-US" sz="770" dirty="0"/>
          </a:p>
        </p:txBody>
      </p:sp>
      <p:sp>
        <p:nvSpPr>
          <p:cNvPr id="39" name="Text 36"/>
          <p:cNvSpPr/>
          <p:nvPr/>
        </p:nvSpPr>
        <p:spPr>
          <a:xfrm>
            <a:off x="685800" y="8869680"/>
            <a:ext cx="22677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sobre RSC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Valdomir Carvalho e Andreia (CRSC)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Equipe de Gestão de Pessoas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264408" y="8467344"/>
            <a:ext cx="2615184" cy="16002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64408" y="8467344"/>
            <a:ext cx="82296" cy="1600200"/>
          </a:xfrm>
          <a:prstGeom prst="roundRect">
            <a:avLst/>
          </a:prstGeom>
          <a:solidFill>
            <a:srgbClr val="0B1E4D"/>
          </a:solidFill>
          <a:ln/>
        </p:spPr>
      </p:sp>
      <p:sp>
        <p:nvSpPr>
          <p:cNvPr id="42" name="Shape 39"/>
          <p:cNvSpPr/>
          <p:nvPr/>
        </p:nvSpPr>
        <p:spPr>
          <a:xfrm>
            <a:off x="3447288" y="8586216"/>
            <a:ext cx="2267712" cy="219456"/>
          </a:xfrm>
          <a:prstGeom prst="roundRect">
            <a:avLst>
              <a:gd name="adj" fmla="val 20833"/>
            </a:avLst>
          </a:prstGeom>
          <a:solidFill>
            <a:srgbClr val="E7EAF3"/>
          </a:solidFill>
          <a:ln/>
        </p:spPr>
      </p:sp>
      <p:sp>
        <p:nvSpPr>
          <p:cNvPr id="43" name="Text 40"/>
          <p:cNvSpPr/>
          <p:nvPr/>
        </p:nvSpPr>
        <p:spPr>
          <a:xfrm>
            <a:off x="3447288" y="8586216"/>
            <a:ext cx="22677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INSTITUCIONAL</a:t>
            </a:r>
            <a:endParaRPr lang="en-US" sz="770" dirty="0"/>
          </a:p>
        </p:txBody>
      </p:sp>
      <p:sp>
        <p:nvSpPr>
          <p:cNvPr id="44" name="Text 41"/>
          <p:cNvSpPr/>
          <p:nvPr/>
        </p:nvSpPr>
        <p:spPr>
          <a:xfrm>
            <a:off x="3447288" y="8869680"/>
            <a:ext cx="22677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Conexões Humanas em Tempos Artificiais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Eixos: Desenvolvimento Institucional + Tecnologia da Informação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Cristiane Lacerda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Equipe de TI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025896" y="8467344"/>
            <a:ext cx="2615184" cy="16002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025896" y="8467344"/>
            <a:ext cx="82296" cy="1600200"/>
          </a:xfrm>
          <a:prstGeom prst="roundRect">
            <a:avLst/>
          </a:prstGeom>
          <a:solidFill>
            <a:srgbClr val="C98A00"/>
          </a:solidFill>
          <a:ln/>
        </p:spPr>
      </p:sp>
      <p:sp>
        <p:nvSpPr>
          <p:cNvPr id="47" name="Shape 44"/>
          <p:cNvSpPr/>
          <p:nvPr/>
        </p:nvSpPr>
        <p:spPr>
          <a:xfrm>
            <a:off x="6208776" y="8586216"/>
            <a:ext cx="2267712" cy="219456"/>
          </a:xfrm>
          <a:prstGeom prst="roundRect">
            <a:avLst>
              <a:gd name="adj" fmla="val 20833"/>
            </a:avLst>
          </a:prstGeom>
          <a:solidFill>
            <a:srgbClr val="FBF1DC"/>
          </a:solidFill>
          <a:ln/>
        </p:spPr>
      </p:sp>
      <p:sp>
        <p:nvSpPr>
          <p:cNvPr id="48" name="Text 45"/>
          <p:cNvSpPr/>
          <p:nvPr/>
        </p:nvSpPr>
        <p:spPr>
          <a:xfrm>
            <a:off x="6208776" y="8586216"/>
            <a:ext cx="22677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 QUALIDADE DE VIDA</a:t>
            </a:r>
            <a:endParaRPr lang="en-US" sz="770" dirty="0"/>
          </a:p>
        </p:txBody>
      </p:sp>
      <p:sp>
        <p:nvSpPr>
          <p:cNvPr id="49" name="Text 46"/>
          <p:cNvSpPr/>
          <p:nvPr/>
        </p:nvSpPr>
        <p:spPr>
          <a:xfrm>
            <a:off x="6208776" y="8869680"/>
            <a:ext cx="226771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Redonda: Olhar Multiprofissional para a Compreensão da Saúde do Servidor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Participantes: IFSP / IFF / IFMA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Saúde e qualidade de vida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undo_horizont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1488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3 — SEXTA-FEIRA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02920" y="2551176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de agosto de 2026</a:t>
            </a:r>
            <a:pPr algn="l"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MANHÃ  •  1/2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02920" y="30175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1E4D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3017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08h–10h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075688" y="3017520"/>
            <a:ext cx="6565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paralela por eixo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3474720"/>
            <a:ext cx="3986784" cy="1828800"/>
          </a:xfrm>
          <a:prstGeom prst="roundRect">
            <a:avLst>
              <a:gd name="adj" fmla="val 3500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3474720"/>
            <a:ext cx="82296" cy="1828800"/>
          </a:xfrm>
          <a:prstGeom prst="roundRect">
            <a:avLst/>
          </a:prstGeom>
          <a:solidFill>
            <a:srgbClr val="ED6A1F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3593592"/>
            <a:ext cx="3639312" cy="219456"/>
          </a:xfrm>
          <a:prstGeom prst="roundRect">
            <a:avLst>
              <a:gd name="adj" fmla="val 20833"/>
            </a:avLst>
          </a:prstGeom>
          <a:solidFill>
            <a:srgbClr val="FDEEE3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593592"/>
            <a:ext cx="36393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ED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PESSOAS</a:t>
            </a:r>
            <a:endParaRPr lang="en-US" sz="770" dirty="0"/>
          </a:p>
        </p:txBody>
      </p:sp>
      <p:sp>
        <p:nvSpPr>
          <p:cNvPr id="12" name="Text 9"/>
          <p:cNvSpPr/>
          <p:nvPr/>
        </p:nvSpPr>
        <p:spPr>
          <a:xfrm>
            <a:off x="685800" y="3877056"/>
            <a:ext cx="36393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Gov — Estágio Probatório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Valdomir Carvalho e Valdir Mariano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Equipe de Gestão de Pessoas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54296" y="3474720"/>
            <a:ext cx="3986784" cy="1828800"/>
          </a:xfrm>
          <a:prstGeom prst="roundRect">
            <a:avLst>
              <a:gd name="adj" fmla="val 3500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54296" y="3474720"/>
            <a:ext cx="82296" cy="1828800"/>
          </a:xfrm>
          <a:prstGeom prst="roundRect">
            <a:avLst/>
          </a:prstGeom>
          <a:solidFill>
            <a:srgbClr val="0B1E4D"/>
          </a:solidFill>
          <a:ln/>
        </p:spPr>
      </p:sp>
      <p:sp>
        <p:nvSpPr>
          <p:cNvPr id="15" name="Shape 12"/>
          <p:cNvSpPr/>
          <p:nvPr/>
        </p:nvSpPr>
        <p:spPr>
          <a:xfrm>
            <a:off x="4837176" y="3593592"/>
            <a:ext cx="3639312" cy="219456"/>
          </a:xfrm>
          <a:prstGeom prst="roundRect">
            <a:avLst>
              <a:gd name="adj" fmla="val 20833"/>
            </a:avLst>
          </a:prstGeom>
          <a:solidFill>
            <a:srgbClr val="E7EAF3"/>
          </a:solidFill>
          <a:ln/>
        </p:spPr>
      </p:sp>
      <p:sp>
        <p:nvSpPr>
          <p:cNvPr id="16" name="Text 13"/>
          <p:cNvSpPr/>
          <p:nvPr/>
        </p:nvSpPr>
        <p:spPr>
          <a:xfrm>
            <a:off x="4837176" y="3593592"/>
            <a:ext cx="36393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INSTITUCIONAL</a:t>
            </a:r>
            <a:endParaRPr lang="en-US" sz="770" dirty="0"/>
          </a:p>
        </p:txBody>
      </p:sp>
      <p:sp>
        <p:nvSpPr>
          <p:cNvPr id="17" name="Text 14"/>
          <p:cNvSpPr/>
          <p:nvPr/>
        </p:nvSpPr>
        <p:spPr>
          <a:xfrm>
            <a:off x="4837176" y="3877056"/>
            <a:ext cx="36393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na Gestão Pública: da Ideação à Aplicação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Anderson Miranda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Dirigentes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5468112"/>
            <a:ext cx="3986784" cy="1828800"/>
          </a:xfrm>
          <a:prstGeom prst="roundRect">
            <a:avLst>
              <a:gd name="adj" fmla="val 3500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5468112"/>
            <a:ext cx="82296" cy="1828800"/>
          </a:xfrm>
          <a:prstGeom prst="roundRect">
            <a:avLst/>
          </a:prstGeom>
          <a:solidFill>
            <a:srgbClr val="0D8BFF"/>
          </a:solidFill>
          <a:ln/>
        </p:spPr>
      </p:sp>
      <p:sp>
        <p:nvSpPr>
          <p:cNvPr id="20" name="Shape 17"/>
          <p:cNvSpPr/>
          <p:nvPr/>
        </p:nvSpPr>
        <p:spPr>
          <a:xfrm>
            <a:off x="685800" y="5586984"/>
            <a:ext cx="3639312" cy="219456"/>
          </a:xfrm>
          <a:prstGeom prst="roundRect">
            <a:avLst>
              <a:gd name="adj" fmla="val 20833"/>
            </a:avLst>
          </a:prstGeom>
          <a:solidFill>
            <a:srgbClr val="E4F2FF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5586984"/>
            <a:ext cx="36393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0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DA INFORMAÇÃO</a:t>
            </a:r>
            <a:endParaRPr lang="en-US" sz="770" dirty="0"/>
          </a:p>
        </p:txBody>
      </p:sp>
      <p:sp>
        <p:nvSpPr>
          <p:cNvPr id="22" name="Text 19"/>
          <p:cNvSpPr/>
          <p:nvPr/>
        </p:nvSpPr>
        <p:spPr>
          <a:xfrm>
            <a:off x="685800" y="5870448"/>
            <a:ext cx="36393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 no Setor Público: da Modernização à Governança de Agentes de IA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Emanuel Estumano (Co-Founder da DNX Brasil — Parceira AWS)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Equipe de TI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54296" y="5468112"/>
            <a:ext cx="3986784" cy="1828800"/>
          </a:xfrm>
          <a:prstGeom prst="roundRect">
            <a:avLst>
              <a:gd name="adj" fmla="val 3500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54296" y="5468112"/>
            <a:ext cx="82296" cy="1828800"/>
          </a:xfrm>
          <a:prstGeom prst="roundRect">
            <a:avLst/>
          </a:prstGeom>
          <a:solidFill>
            <a:srgbClr val="C98A00"/>
          </a:solidFill>
          <a:ln/>
        </p:spPr>
      </p:sp>
      <p:sp>
        <p:nvSpPr>
          <p:cNvPr id="25" name="Shape 22"/>
          <p:cNvSpPr/>
          <p:nvPr/>
        </p:nvSpPr>
        <p:spPr>
          <a:xfrm>
            <a:off x="4837176" y="5586984"/>
            <a:ext cx="3639312" cy="219456"/>
          </a:xfrm>
          <a:prstGeom prst="roundRect">
            <a:avLst>
              <a:gd name="adj" fmla="val 20833"/>
            </a:avLst>
          </a:prstGeom>
          <a:solidFill>
            <a:srgbClr val="FBF1DC"/>
          </a:solidFill>
          <a:ln/>
        </p:spPr>
      </p:sp>
      <p:sp>
        <p:nvSpPr>
          <p:cNvPr id="26" name="Text 23"/>
          <p:cNvSpPr/>
          <p:nvPr/>
        </p:nvSpPr>
        <p:spPr>
          <a:xfrm>
            <a:off x="4837176" y="5586984"/>
            <a:ext cx="36393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 QUALIDADE DE VIDA</a:t>
            </a:r>
            <a:endParaRPr lang="en-US" sz="770" dirty="0"/>
          </a:p>
        </p:txBody>
      </p:sp>
      <p:sp>
        <p:nvSpPr>
          <p:cNvPr id="27" name="Text 24"/>
          <p:cNvSpPr/>
          <p:nvPr/>
        </p:nvSpPr>
        <p:spPr>
          <a:xfrm>
            <a:off x="4837176" y="5870448"/>
            <a:ext cx="36393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Biopsicossocial da Pessoa com Deficiência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Psic. Nathália, Assist. Soc. Aline Paes e Med. Rodrigo Aires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Saúde e qualidade de vida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2920" y="757123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1E4D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75712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10h–10h30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075688" y="7571232"/>
            <a:ext cx="6565392" cy="566928"/>
          </a:xfrm>
          <a:prstGeom prst="roundRect">
            <a:avLst>
              <a:gd name="adj" fmla="val 12903"/>
            </a:avLst>
          </a:prstGeom>
          <a:solidFill>
            <a:srgbClr val="EFF3F8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240280" y="7571232"/>
            <a:ext cx="6236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BREAK</a:t>
            </a:r>
            <a:endParaRPr lang="en-US" sz="125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comum a todos os participantes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undo_horizont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1488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3 — SEXTA-FEIRA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02920" y="2551176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de agosto de 2026</a:t>
            </a:r>
            <a:pPr algn="l"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MANHÃ  •  2/2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02920" y="30175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1E4D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3017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10h30–12h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075688" y="3017520"/>
            <a:ext cx="6565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paralela por eixo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3474720"/>
            <a:ext cx="3986784" cy="2606040"/>
          </a:xfrm>
          <a:prstGeom prst="roundRect">
            <a:avLst>
              <a:gd name="adj" fmla="val 2456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3474720"/>
            <a:ext cx="82296" cy="2606040"/>
          </a:xfrm>
          <a:prstGeom prst="roundRect">
            <a:avLst/>
          </a:prstGeom>
          <a:solidFill>
            <a:srgbClr val="ED6A1F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3593592"/>
            <a:ext cx="3639312" cy="219456"/>
          </a:xfrm>
          <a:prstGeom prst="roundRect">
            <a:avLst>
              <a:gd name="adj" fmla="val 20833"/>
            </a:avLst>
          </a:prstGeom>
          <a:solidFill>
            <a:srgbClr val="FDEEE3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593592"/>
            <a:ext cx="36393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ED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PESSOAS</a:t>
            </a:r>
            <a:endParaRPr lang="en-US" sz="770" dirty="0"/>
          </a:p>
        </p:txBody>
      </p:sp>
      <p:sp>
        <p:nvSpPr>
          <p:cNvPr id="12" name="Text 9"/>
          <p:cNvSpPr/>
          <p:nvPr/>
        </p:nvSpPr>
        <p:spPr>
          <a:xfrm>
            <a:off x="685800" y="3877056"/>
            <a:ext cx="3639312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Judiciais e Notificação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Luzinete Camara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Equipe de Gestão de Pessoas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54296" y="3474720"/>
            <a:ext cx="3986784" cy="2606040"/>
          </a:xfrm>
          <a:prstGeom prst="roundRect">
            <a:avLst>
              <a:gd name="adj" fmla="val 2456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54296" y="3474720"/>
            <a:ext cx="82296" cy="2606040"/>
          </a:xfrm>
          <a:prstGeom prst="roundRect">
            <a:avLst/>
          </a:prstGeom>
          <a:solidFill>
            <a:srgbClr val="0B1E4D"/>
          </a:solidFill>
          <a:ln/>
        </p:spPr>
      </p:sp>
      <p:sp>
        <p:nvSpPr>
          <p:cNvPr id="15" name="Shape 12"/>
          <p:cNvSpPr/>
          <p:nvPr/>
        </p:nvSpPr>
        <p:spPr>
          <a:xfrm>
            <a:off x="4837176" y="3593592"/>
            <a:ext cx="3639312" cy="219456"/>
          </a:xfrm>
          <a:prstGeom prst="roundRect">
            <a:avLst>
              <a:gd name="adj" fmla="val 20833"/>
            </a:avLst>
          </a:prstGeom>
          <a:solidFill>
            <a:srgbClr val="E7EAF3"/>
          </a:solidFill>
          <a:ln/>
        </p:spPr>
      </p:sp>
      <p:sp>
        <p:nvSpPr>
          <p:cNvPr id="16" name="Text 13"/>
          <p:cNvSpPr/>
          <p:nvPr/>
        </p:nvSpPr>
        <p:spPr>
          <a:xfrm>
            <a:off x="4837176" y="3593592"/>
            <a:ext cx="36393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INSTITUCIONAL</a:t>
            </a:r>
            <a:endParaRPr lang="en-US" sz="770" dirty="0"/>
          </a:p>
        </p:txBody>
      </p:sp>
      <p:sp>
        <p:nvSpPr>
          <p:cNvPr id="17" name="Text 14"/>
          <p:cNvSpPr/>
          <p:nvPr/>
        </p:nvSpPr>
        <p:spPr>
          <a:xfrm>
            <a:off x="4837176" y="3877056"/>
            <a:ext cx="3639312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Liderança Consciente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Cristiane Lacerda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Dirigentes do IFMA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6245352"/>
            <a:ext cx="3986784" cy="2606040"/>
          </a:xfrm>
          <a:prstGeom prst="roundRect">
            <a:avLst>
              <a:gd name="adj" fmla="val 2456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6245352"/>
            <a:ext cx="82296" cy="2606040"/>
          </a:xfrm>
          <a:prstGeom prst="roundRect">
            <a:avLst/>
          </a:prstGeom>
          <a:solidFill>
            <a:srgbClr val="0D8BFF"/>
          </a:solidFill>
          <a:ln/>
        </p:spPr>
      </p:sp>
      <p:sp>
        <p:nvSpPr>
          <p:cNvPr id="20" name="Shape 17"/>
          <p:cNvSpPr/>
          <p:nvPr/>
        </p:nvSpPr>
        <p:spPr>
          <a:xfrm>
            <a:off x="685800" y="6364224"/>
            <a:ext cx="3639312" cy="219456"/>
          </a:xfrm>
          <a:prstGeom prst="roundRect">
            <a:avLst>
              <a:gd name="adj" fmla="val 20833"/>
            </a:avLst>
          </a:prstGeom>
          <a:solidFill>
            <a:srgbClr val="E4F2FF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6364224"/>
            <a:ext cx="36393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0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DA INFORMAÇÃO</a:t>
            </a:r>
            <a:endParaRPr lang="en-US" sz="770" dirty="0"/>
          </a:p>
        </p:txBody>
      </p:sp>
      <p:sp>
        <p:nvSpPr>
          <p:cNvPr id="22" name="Text 19"/>
          <p:cNvSpPr/>
          <p:nvPr/>
        </p:nvSpPr>
        <p:spPr>
          <a:xfrm>
            <a:off x="685800" y="6647688"/>
            <a:ext cx="3639312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6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 de Bens e Serviços de TI por meio de Ata de Registro de Preços, com Apoio da IA</a:t>
            </a:r>
            <a:endParaRPr lang="en-US" sz="86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Kristiano Fernandes Plácido</a:t>
            </a:r>
            <a:endParaRPr lang="en-US" sz="86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Equipe de TI</a:t>
            </a:r>
            <a:endParaRPr lang="en-US" sz="860" dirty="0"/>
          </a:p>
          <a:p>
            <a:pPr algn="l" indent="0" marL="0">
              <a:lnSpc>
                <a:spcPct val="105000"/>
              </a:lnSpc>
              <a:buNone/>
            </a:pPr>
            <a:endParaRPr lang="en-US" sz="86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6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Futuro do SUAP com IA: Possibilidades e Limites</a:t>
            </a:r>
            <a:endParaRPr lang="en-US" sz="86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Daniel Soares Lopes Lima</a:t>
            </a:r>
            <a:endParaRPr lang="en-US" sz="86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Equipe de TI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4654296" y="6245352"/>
            <a:ext cx="3986784" cy="2606040"/>
          </a:xfrm>
          <a:prstGeom prst="roundRect">
            <a:avLst>
              <a:gd name="adj" fmla="val 2456"/>
            </a:avLst>
          </a:prstGeom>
          <a:solidFill>
            <a:srgbClr val="F7F9FC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54296" y="6245352"/>
            <a:ext cx="82296" cy="2606040"/>
          </a:xfrm>
          <a:prstGeom prst="roundRect">
            <a:avLst/>
          </a:prstGeom>
          <a:solidFill>
            <a:srgbClr val="C98A00"/>
          </a:solidFill>
          <a:ln/>
        </p:spPr>
      </p:sp>
      <p:sp>
        <p:nvSpPr>
          <p:cNvPr id="25" name="Shape 22"/>
          <p:cNvSpPr/>
          <p:nvPr/>
        </p:nvSpPr>
        <p:spPr>
          <a:xfrm>
            <a:off x="4837176" y="6364224"/>
            <a:ext cx="3639312" cy="219456"/>
          </a:xfrm>
          <a:prstGeom prst="roundRect">
            <a:avLst>
              <a:gd name="adj" fmla="val 20833"/>
            </a:avLst>
          </a:prstGeom>
          <a:solidFill>
            <a:srgbClr val="FBF1DC"/>
          </a:solidFill>
          <a:ln/>
        </p:spPr>
      </p:sp>
      <p:sp>
        <p:nvSpPr>
          <p:cNvPr id="26" name="Text 23"/>
          <p:cNvSpPr/>
          <p:nvPr/>
        </p:nvSpPr>
        <p:spPr>
          <a:xfrm>
            <a:off x="4837176" y="6364224"/>
            <a:ext cx="3639312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70" b="1" spc="30" kern="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 QUALIDADE DE VIDA</a:t>
            </a:r>
            <a:endParaRPr lang="en-US" sz="770" dirty="0"/>
          </a:p>
        </p:txBody>
      </p:sp>
      <p:sp>
        <p:nvSpPr>
          <p:cNvPr id="27" name="Text 24"/>
          <p:cNvSpPr/>
          <p:nvPr/>
        </p:nvSpPr>
        <p:spPr>
          <a:xfrm>
            <a:off x="4837176" y="6647688"/>
            <a:ext cx="3639312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 do SIASS para o Serviço Público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experiência da Unidade SIASS do IFFluminense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Palestrante(s): Méd. Rodrigo Aires de Morais</a:t>
            </a:r>
            <a:endParaRPr lang="en-US" sz="1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Saúde e qualidade de vida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2920" y="912571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1E4D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912571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12h–14h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075688" y="9125712"/>
            <a:ext cx="6565392" cy="566928"/>
          </a:xfrm>
          <a:prstGeom prst="roundRect">
            <a:avLst>
              <a:gd name="adj" fmla="val 12903"/>
            </a:avLst>
          </a:prstGeom>
          <a:solidFill>
            <a:srgbClr val="EFF3F8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240280" y="9125712"/>
            <a:ext cx="6236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PARA ALMOÇO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undo_horizont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1488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3 — SEXTA-FEIRA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02920" y="2551176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de agosto de 2026</a:t>
            </a:r>
            <a:pPr algn="l"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  •  ENCERRAMENTO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02920" y="30175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1E4D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3017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14h–16h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075688" y="3017520"/>
            <a:ext cx="6565392" cy="1051560"/>
          </a:xfrm>
          <a:prstGeom prst="roundRect">
            <a:avLst>
              <a:gd name="adj" fmla="val 6957"/>
            </a:avLst>
          </a:prstGeom>
          <a:solidFill>
            <a:srgbClr val="E4F2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40280" y="3017520"/>
            <a:ext cx="6236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Protagonismo Digital no Governo Federal: O Ecossistema de IA e a Matriz de Competência</a:t>
            </a:r>
            <a:endParaRPr lang="en-US" sz="11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Palestrante: Leandro Bahia (Coordenador-Geral em Estruturação de Dados para IA, Secretaria de Governo Digital — SGD, Ministério da Gestão e da Inovação em Serviços Públicos — MGI)</a:t>
            </a:r>
            <a:endParaRPr lang="en-US" sz="11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Todos os participantes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4306824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1E4D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430682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16h–16h30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075688" y="4306824"/>
            <a:ext cx="6565392" cy="566928"/>
          </a:xfrm>
          <a:prstGeom prst="roundRect">
            <a:avLst>
              <a:gd name="adj" fmla="val 12903"/>
            </a:avLst>
          </a:prstGeom>
          <a:solidFill>
            <a:srgbClr val="EFF3F8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40280" y="4306824"/>
            <a:ext cx="6236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BREAK</a:t>
            </a:r>
            <a:endParaRPr lang="en-US" sz="125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comum a todos os participantes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240280" y="4901184"/>
            <a:ext cx="623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Entrega: IQ — nova funcionalidade no SUAP e DADMP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2920" y="542239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1E4D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4223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16h30–18h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075688" y="5422392"/>
            <a:ext cx="6565392" cy="777240"/>
          </a:xfrm>
          <a:prstGeom prst="roundRect">
            <a:avLst>
              <a:gd name="adj" fmla="val 9412"/>
            </a:avLst>
          </a:prstGeom>
          <a:solidFill>
            <a:srgbClr val="E4F2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40280" y="5422392"/>
            <a:ext cx="6236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Desafios Educacionais da Rede Federal em Tempos de IA</a:t>
            </a:r>
            <a:endParaRPr lang="en-US" sz="12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Palestrante: Veruska Ribeiro Machado (Reitora do Instituto Federal de Brasília)</a:t>
            </a:r>
            <a:endParaRPr lang="en-US" sz="12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 Todos os participantes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240280" y="6227064"/>
            <a:ext cx="623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Entrega: DCLP e Entregas DIGEPE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02920" y="674827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B1E4D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67482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18h–19h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075688" y="6748272"/>
            <a:ext cx="6565392" cy="566928"/>
          </a:xfrm>
          <a:prstGeom prst="roundRect">
            <a:avLst>
              <a:gd name="adj" fmla="val 12903"/>
            </a:avLst>
          </a:prstGeom>
          <a:solidFill>
            <a:srgbClr val="E7EAF3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40280" y="6748272"/>
            <a:ext cx="6236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OFICIAL</a:t>
            </a:r>
            <a:endParaRPr lang="en-US" sz="125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destinada a todos os participantes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2240280" y="7342632"/>
            <a:ext cx="623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Material: Cartilha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2026-08-14T12:16:38Z</dcterms:created>
  <dcterms:modified xsi:type="dcterms:W3CDTF">2026-08-14T12:16:38Z</dcterms:modified>
</cp:coreProperties>
</file>